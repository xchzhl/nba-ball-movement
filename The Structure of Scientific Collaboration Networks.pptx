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dirty="0"/>
              <a:t>3/2/2017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dirty="0"/>
              <a:t>3/2/2017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dirty="0"/>
              <a:t>3/2/2017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dirty="0"/>
              <a:t>3/2/2017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dirty="0"/>
              <a:t>3/2/2017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dirty="0"/>
              <a:t>3/2/2017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dirty="0"/>
              <a:t>3/2/2017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dirty="0"/>
              <a:t>3/2/2017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dirty="0"/>
              <a:t>3/2/2017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dirty="0"/>
              <a:t>3/2/2017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dirty="0"/>
              <a:t>3/2/2017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dirty="0"/>
              <a:t>3/2/2017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dirty="0"/>
              <a:t>3/2/2017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dirty="0"/>
              <a:t>3/2/2017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dirty="0"/>
              <a:t>3/2/2017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dirty="0"/>
              <a:t>3/2/2017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dirty="0"/>
              <a:t>3/2/2017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dirty="0"/>
              <a:t>3/2/2017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thenextweb.com/socialmedia/2013/11/24/facebook-grandparents-need-next-gen-social-network/#.tnw_YxeO9Eqr" TargetMode="External"/><Relationship Id="rId2" Type="http://schemas.openxmlformats.org/officeDocument/2006/relationships/hyperlink" Target="https://commons.wikimedia.org/wiki/File:Experement_Small_World_(possible_option).gi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646027" y="2308054"/>
            <a:ext cx="9144000" cy="1641490"/>
          </a:xfrm>
        </p:spPr>
        <p:txBody>
          <a:bodyPr>
            <a:normAutofit/>
          </a:bodyPr>
          <a:lstStyle/>
          <a:p>
            <a:r>
              <a:rPr lang="en-US" altLang="zh-CN" sz="5000" dirty="0"/>
              <a:t>The Structure of Scientific Collaboration Networks</a:t>
            </a:r>
            <a:endParaRPr lang="zh-CN" altLang="en-US" sz="5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dirty="0" err="1"/>
              <a:t>Writen</a:t>
            </a:r>
            <a:r>
              <a:rPr lang="en-US" altLang="zh-CN" dirty="0"/>
              <a:t> by M. E. J. Newman</a:t>
            </a:r>
          </a:p>
          <a:p>
            <a:r>
              <a:rPr lang="en-US" altLang="zh-CN" dirty="0"/>
              <a:t>Presented by Chang Xu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4832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The Structure of Social Networks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8363" y="2189402"/>
            <a:ext cx="3984231" cy="2237719"/>
          </a:xfrm>
        </p:spPr>
      </p:pic>
      <p:sp>
        <p:nvSpPr>
          <p:cNvPr id="5" name="文本框 4"/>
          <p:cNvSpPr txBox="1"/>
          <p:nvPr/>
        </p:nvSpPr>
        <p:spPr>
          <a:xfrm>
            <a:off x="838200" y="1690688"/>
            <a:ext cx="58478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How many steps you need to deliver something to a specific person that you never know before through a chain of “a friend of a friend”?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869659" y="3016251"/>
            <a:ext cx="52263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Small-world experiment</a:t>
            </a:r>
          </a:p>
          <a:p>
            <a:r>
              <a:rPr lang="en-US" altLang="zh-CN" sz="2400" dirty="0"/>
              <a:t>							</a:t>
            </a:r>
            <a:r>
              <a:rPr lang="en-US" altLang="zh-CN" dirty="0"/>
              <a:t>by Stanley Milgram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5463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717462"/>
            <a:ext cx="10515600" cy="1325563"/>
          </a:xfrm>
        </p:spPr>
        <p:txBody>
          <a:bodyPr>
            <a:noAutofit/>
          </a:bodyPr>
          <a:lstStyle/>
          <a:p>
            <a:r>
              <a:rPr lang="en-US" altLang="zh-CN" dirty="0"/>
              <a:t>Small-world Experiment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0462" y="1491806"/>
            <a:ext cx="3591922" cy="3591922"/>
          </a:xfrm>
        </p:spPr>
      </p:pic>
      <p:sp>
        <p:nvSpPr>
          <p:cNvPr id="7" name="文本框 6"/>
          <p:cNvSpPr txBox="1"/>
          <p:nvPr/>
        </p:nvSpPr>
        <p:spPr>
          <a:xfrm>
            <a:off x="1152787" y="1491806"/>
            <a:ext cx="5276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Method: </a:t>
            </a:r>
          </a:p>
          <a:p>
            <a:r>
              <a:rPr lang="en-US" altLang="zh-CN" dirty="0"/>
              <a:t>	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744050" y="1491806"/>
            <a:ext cx="49837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Result:</a:t>
            </a:r>
          </a:p>
          <a:p>
            <a:r>
              <a:rPr lang="en-US" altLang="zh-CN" dirty="0"/>
              <a:t>	Six degrees of Separation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Biases: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	Letter get lost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	Detailed structure of social networks</a:t>
            </a:r>
          </a:p>
        </p:txBody>
      </p:sp>
    </p:spTree>
    <p:extLst>
      <p:ext uri="{BB962C8B-B14F-4D97-AF65-F5344CB8AC3E}">
        <p14:creationId xmlns:p14="http://schemas.microsoft.com/office/powerpoint/2010/main" val="532931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More experiments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altLang="zh-CN" dirty="0"/>
              <a:t>Friendship networks among schools/ communities</a:t>
            </a:r>
          </a:p>
          <a:p>
            <a:pPr marL="742950" lvl="1" indent="-285750"/>
            <a:r>
              <a:rPr lang="en-US" altLang="zh-CN" dirty="0"/>
              <a:t>The size of network is limited</a:t>
            </a:r>
          </a:p>
          <a:p>
            <a:pPr marL="742950" lvl="1" indent="-285750"/>
            <a:r>
              <a:rPr lang="en-US" altLang="zh-CN" dirty="0"/>
              <a:t>Sensitive to “acquaintance”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Electric Power Grid/ the Internet/ Air Traffic</a:t>
            </a:r>
          </a:p>
          <a:p>
            <a:pPr lvl="1"/>
            <a:r>
              <a:rPr lang="en-US" altLang="zh-CN" dirty="0"/>
              <a:t> Doesn’t directly measure actual contact between people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Studies of the network of movie actors</a:t>
            </a:r>
          </a:p>
          <a:p>
            <a:pPr lvl="1"/>
            <a:r>
              <a:rPr lang="en-US" altLang="zh-CN" dirty="0"/>
              <a:t> Hard to know if they are acquainted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8311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Scientific Collaboration Networks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>
          <a:xfrm>
            <a:off x="1347040" y="1885950"/>
            <a:ext cx="2946866" cy="576262"/>
          </a:xfrm>
        </p:spPr>
        <p:txBody>
          <a:bodyPr/>
          <a:lstStyle/>
          <a:p>
            <a:r>
              <a:rPr lang="en-US" altLang="zh-CN" dirty="0"/>
              <a:t>Why Scientific?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15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Acquaintance</a:t>
            </a:r>
          </a:p>
          <a:p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/>
          <a:lstStyle/>
          <a:p>
            <a:r>
              <a:rPr lang="en-US" altLang="zh-CN" dirty="0"/>
              <a:t>Method: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en-US" altLang="zh-CN" sz="2000" dirty="0"/>
              <a:t>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MEDLINE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Los Alamos e-Print </a:t>
            </a:r>
            <a:r>
              <a:rPr lang="en-US" altLang="zh-CN" sz="1400" dirty="0" err="1"/>
              <a:t>Archieve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SPRISES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NCSTRL</a:t>
            </a:r>
          </a:p>
          <a:p>
            <a:r>
              <a:rPr lang="en-US" altLang="zh-CN" sz="2000" dirty="0" err="1"/>
              <a:t>Unrefereed</a:t>
            </a:r>
            <a:r>
              <a:rPr lang="en-US" altLang="zh-CN" sz="2000" dirty="0"/>
              <a:t> Preprints</a:t>
            </a:r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err="1"/>
              <a:t>Erdős</a:t>
            </a:r>
            <a:r>
              <a:rPr lang="en-US" altLang="zh-CN" dirty="0"/>
              <a:t> number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Paul </a:t>
            </a:r>
            <a:r>
              <a:rPr lang="en-US" altLang="zh-CN" sz="2000" dirty="0" err="1"/>
              <a:t>Erdős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Definitions</a:t>
            </a:r>
          </a:p>
          <a:p>
            <a:endParaRPr lang="en-US" altLang="zh-CN" sz="2000" dirty="0"/>
          </a:p>
          <a:p>
            <a:r>
              <a:rPr lang="en-US" altLang="zh-CN" sz="2000" dirty="0"/>
              <a:t>Biases</a:t>
            </a:r>
          </a:p>
          <a:p>
            <a:endParaRPr lang="en-US" altLang="zh-CN" sz="20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33442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Result</a:t>
            </a:r>
          </a:p>
        </p:txBody>
      </p:sp>
      <p:pic>
        <p:nvPicPr>
          <p:cNvPr id="13" name="内容占位符 1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7812" y="1690688"/>
            <a:ext cx="85224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063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Numbers of Authors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Two authors with same name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Authors identify themselves in different ways on different papers</a:t>
            </a:r>
          </a:p>
          <a:p>
            <a:endParaRPr lang="en-US" altLang="zh-CN" dirty="0"/>
          </a:p>
          <a:p>
            <a:r>
              <a:rPr lang="en-US" altLang="zh-CN" dirty="0"/>
              <a:t>Solution:</a:t>
            </a:r>
          </a:p>
          <a:p>
            <a:pPr lvl="1"/>
            <a:r>
              <a:rPr lang="en-US" altLang="zh-CN" dirty="0"/>
              <a:t>Use initials at first time  		Overestimate</a:t>
            </a:r>
          </a:p>
          <a:p>
            <a:pPr lvl="1"/>
            <a:r>
              <a:rPr lang="en-US" altLang="zh-CN" dirty="0"/>
              <a:t>Use first initial of each author			underestimate</a:t>
            </a:r>
          </a:p>
          <a:p>
            <a:pPr lvl="1"/>
            <a:r>
              <a:rPr lang="en-US" altLang="zh-CN" dirty="0"/>
              <a:t>Gives upper and lower bounds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右箭头 3"/>
          <p:cNvSpPr/>
          <p:nvPr/>
        </p:nvSpPr>
        <p:spPr>
          <a:xfrm>
            <a:off x="5226341" y="4153264"/>
            <a:ext cx="1283516" cy="2516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右箭头 4"/>
          <p:cNvSpPr/>
          <p:nvPr/>
        </p:nvSpPr>
        <p:spPr>
          <a:xfrm>
            <a:off x="5977155" y="4583243"/>
            <a:ext cx="1283516" cy="2516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911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Mean Papers per Author </a:t>
            </a:r>
            <a:br>
              <a:rPr lang="en-US" altLang="zh-CN" dirty="0"/>
            </a:br>
            <a:r>
              <a:rPr lang="en-US" altLang="zh-CN" dirty="0"/>
              <a:t>&amp; Authors per Paper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Marked numbers</a:t>
            </a:r>
          </a:p>
          <a:p>
            <a:r>
              <a:rPr lang="en-US" altLang="zh-CN" dirty="0"/>
              <a:t>4 papers per author</a:t>
            </a:r>
          </a:p>
          <a:p>
            <a:r>
              <a:rPr lang="en-US" altLang="zh-CN" dirty="0"/>
              <a:t>3 authors per paper</a:t>
            </a:r>
          </a:p>
          <a:p>
            <a:r>
              <a:rPr lang="en-US" altLang="zh-CN" dirty="0"/>
              <a:t>9 authors per paper in the SPIRES high-energy physics database</a:t>
            </a:r>
          </a:p>
          <a:p>
            <a:pPr lvl="2"/>
            <a:r>
              <a:rPr lang="en-US" altLang="zh-CN" dirty="0"/>
              <a:t>Contains both experimental and theoretical work</a:t>
            </a:r>
          </a:p>
          <a:p>
            <a:pPr lvl="2"/>
            <a:r>
              <a:rPr lang="en-US" altLang="zh-CN" dirty="0"/>
              <a:t>Experimental work could run much more people</a:t>
            </a:r>
          </a:p>
          <a:p>
            <a:pPr lvl="2"/>
            <a:r>
              <a:rPr lang="en-US" altLang="zh-CN" dirty="0"/>
              <a:t>The largest author list in the SPIRES database = 1681 authors in 1 paper	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5013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2922" y="1924505"/>
            <a:ext cx="3354676" cy="25830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Numbers of Collaborators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0000" y="1825625"/>
            <a:ext cx="6358486" cy="4351338"/>
          </a:xfrm>
        </p:spPr>
        <p:txBody>
          <a:bodyPr>
            <a:normAutofit/>
          </a:bodyPr>
          <a:lstStyle/>
          <a:p>
            <a:r>
              <a:rPr lang="en-US" altLang="zh-CN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Less than 4 in pure theoretical databases</a:t>
            </a:r>
          </a:p>
          <a:p>
            <a:r>
              <a:rPr lang="en-US" altLang="zh-CN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The degree is high in physics and astrophysics/MEDCINE </a:t>
            </a:r>
          </a:p>
          <a:p>
            <a:r>
              <a:rPr lang="en-US" altLang="zh-CN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SPIRES reaches 173</a:t>
            </a:r>
          </a:p>
          <a:p>
            <a:endParaRPr lang="en-US" altLang="zh-CN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1"/>
                  </a:gs>
                </a:gsLst>
                <a:lin ang="4800000" scaled="0"/>
              </a:gradFill>
            </a:endParaRPr>
          </a:p>
          <a:p>
            <a:r>
              <a:rPr lang="en-US" altLang="zh-CN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Histograms of the numbers of collaborators of scientists in database</a:t>
            </a:r>
          </a:p>
          <a:p>
            <a:endParaRPr lang="en-US" altLang="zh-CN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1"/>
                  </a:gs>
                </a:gsLst>
                <a:lin ang="4800000" scaled="0"/>
              </a:gradFill>
            </a:endParaRPr>
          </a:p>
          <a:p>
            <a:pPr marL="0" indent="0">
              <a:buNone/>
            </a:pPr>
            <a:endParaRPr lang="pl-PL" altLang="zh-CN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1"/>
                  </a:gs>
                </a:gsLst>
                <a:lin ang="48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502948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Countinued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/>
              <a:t>The numbers of papers written by scientists in four of the database studies</a:t>
            </a:r>
          </a:p>
          <a:p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en-US" altLang="zh-CN" sz="1600" dirty="0"/>
              <a:t> where exponent and cutoff are constants.  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4" y="3325776"/>
            <a:ext cx="1848108" cy="323895"/>
          </a:xfrm>
          <a:prstGeom prst="rect">
            <a:avLst/>
          </a:prstGeom>
        </p:spPr>
      </p:pic>
      <p:pic>
        <p:nvPicPr>
          <p:cNvPr id="10" name="内容占位符 9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19838" y="1830029"/>
            <a:ext cx="5033962" cy="434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229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Exponent &amp; Cutoff analysis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Exponent</a:t>
            </a:r>
          </a:p>
          <a:p>
            <a:r>
              <a:rPr lang="en-US" altLang="zh-CN" dirty="0"/>
              <a:t>Close to 1 in “hard science”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>
                <a:sym typeface="Wingdings" panose="05000000000000000000" pitchFamily="2" charset="2"/>
              </a:rPr>
              <a:t></a:t>
            </a:r>
            <a:r>
              <a:rPr lang="en-US" altLang="zh-CN" sz="2000" dirty="0">
                <a:sym typeface="Wingdings" panose="05000000000000000000" pitchFamily="2" charset="2"/>
              </a:rPr>
              <a:t>Few individuals with large collaborators</a:t>
            </a:r>
            <a:endParaRPr lang="en-US" altLang="zh-CN" sz="2000" dirty="0"/>
          </a:p>
          <a:p>
            <a:endParaRPr lang="en-US" altLang="zh-CN" dirty="0"/>
          </a:p>
          <a:p>
            <a:r>
              <a:rPr lang="en-US" altLang="zh-CN" dirty="0"/>
              <a:t>2.5 in MEDICINE </a:t>
            </a:r>
          </a:p>
          <a:p>
            <a:pPr marL="457200" lvl="1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 </a:t>
            </a:r>
            <a:r>
              <a:rPr lang="en-US" altLang="zh-CN" sz="2000" dirty="0">
                <a:sym typeface="Wingdings" panose="05000000000000000000" pitchFamily="2" charset="2"/>
              </a:rPr>
              <a:t>Dominated by the “little people”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Cutoff</a:t>
            </a:r>
          </a:p>
          <a:p>
            <a:r>
              <a:rPr lang="en-US" altLang="zh-CN" dirty="0"/>
              <a:t>10 in theoretical research</a:t>
            </a:r>
          </a:p>
          <a:p>
            <a:r>
              <a:rPr lang="en-US" altLang="zh-CN" dirty="0"/>
              <a:t>Much larger values in SPIRES and MEDCINE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6414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Giant Component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80% or 90% of all authors are connected by some paths of intermediate coauthors in most databases.</a:t>
            </a:r>
          </a:p>
          <a:p>
            <a:r>
              <a:rPr lang="en-US" altLang="zh-CN" dirty="0"/>
              <a:t>Smaller but still more than half in high-energy theory and Computer Science.</a:t>
            </a:r>
          </a:p>
          <a:p>
            <a:r>
              <a:rPr lang="en-US" altLang="zh-CN" dirty="0"/>
              <a:t>Considered as advantage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2017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Average Degrees of Separation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/>
              <a:t>Average of 6 </a:t>
            </a:r>
          </a:p>
          <a:p>
            <a:r>
              <a:rPr lang="en-US" altLang="zh-CN" dirty="0"/>
              <a:t>Log N/ log z </a:t>
            </a:r>
            <a:r>
              <a:rPr lang="en-US" altLang="zh-CN" dirty="0">
                <a:sym typeface="Wingdings" panose="05000000000000000000" pitchFamily="2" charset="2"/>
              </a:rPr>
              <a:t> R^2 = 0.83</a:t>
            </a:r>
          </a:p>
          <a:p>
            <a:pPr marL="457200" lvl="1" indent="0">
              <a:buNone/>
            </a:pPr>
            <a:r>
              <a:rPr lang="en-US" altLang="zh-CN" sz="2000" dirty="0">
                <a:sym typeface="Wingdings" panose="05000000000000000000" pitchFamily="2" charset="2"/>
              </a:rPr>
              <a:t>(where N = numbers of scientists, z = mean number of collaborators)</a:t>
            </a:r>
            <a:endParaRPr lang="en-US" altLang="zh-CN" sz="2000" dirty="0"/>
          </a:p>
          <a:p>
            <a:r>
              <a:rPr lang="en-US" altLang="zh-CN" dirty="0"/>
              <a:t>Maximum separation of pairs: 20</a:t>
            </a:r>
          </a:p>
          <a:p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19838" y="2083996"/>
            <a:ext cx="5033962" cy="3834595"/>
          </a:xfrm>
        </p:spPr>
      </p:pic>
    </p:spTree>
    <p:extLst>
      <p:ext uri="{BB962C8B-B14F-4D97-AF65-F5344CB8AC3E}">
        <p14:creationId xmlns:p14="http://schemas.microsoft.com/office/powerpoint/2010/main" val="1420070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Clustering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Cluster coefficient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Two scientists have a 30% or higher probability if both have collaborated with a third scientist.</a:t>
            </a:r>
          </a:p>
          <a:p>
            <a:endParaRPr lang="en-US" altLang="zh-CN" sz="2400" dirty="0"/>
          </a:p>
          <a:p>
            <a:r>
              <a:rPr lang="en-US" altLang="zh-CN" dirty="0"/>
              <a:t>Low C in MEDCINE database</a:t>
            </a:r>
          </a:p>
          <a:p>
            <a:pPr marL="1371600" lvl="3" indent="0">
              <a:buNone/>
            </a:pPr>
            <a:r>
              <a:rPr lang="en-US" altLang="zh-CN" sz="2000" dirty="0">
                <a:sym typeface="Wingdings" panose="05000000000000000000" pitchFamily="2" charset="2"/>
              </a:rPr>
              <a:t>Tree-like networks</a:t>
            </a:r>
            <a:endParaRPr lang="en-US" altLang="zh-CN" sz="2000" dirty="0"/>
          </a:p>
          <a:p>
            <a:endParaRPr lang="en-US" altLang="zh-CN" sz="2400" dirty="0"/>
          </a:p>
        </p:txBody>
      </p:sp>
      <p:pic>
        <p:nvPicPr>
          <p:cNvPr id="7" name="内容占位符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000" y="2386631"/>
            <a:ext cx="4020111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997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Constitute a “small world”.</a:t>
            </a:r>
          </a:p>
          <a:p>
            <a:r>
              <a:rPr lang="en-US" altLang="zh-CN" dirty="0"/>
              <a:t>The distributions of both the numbers of collaborators and the numbers of papers they write are fit by power-law with an exponent cutoff.</a:t>
            </a:r>
          </a:p>
          <a:p>
            <a:r>
              <a:rPr lang="en-US" altLang="zh-CN" dirty="0"/>
              <a:t>Highly clustered.</a:t>
            </a:r>
          </a:p>
          <a:p>
            <a:r>
              <a:rPr lang="en-US" altLang="zh-CN" dirty="0"/>
              <a:t>Differences between scientific communities.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263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67971" y="2052184"/>
            <a:ext cx="9144000" cy="1641490"/>
          </a:xfrm>
        </p:spPr>
        <p:txBody>
          <a:bodyPr>
            <a:normAutofit/>
          </a:bodyPr>
          <a:lstStyle/>
          <a:p>
            <a:r>
              <a:rPr lang="en-US" altLang="zh-CN" dirty="0"/>
              <a:t>Thank you for watching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								Chang Xu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2354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Reference: 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Andrew A. (</a:t>
            </a:r>
            <a:r>
              <a:rPr lang="en-US" altLang="zh-C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n.d.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“One possible path of a message in the “Small World” experiment by Stanley Milgram” Retrieved from: </a:t>
            </a:r>
          </a:p>
          <a:p>
            <a:pPr marL="0" indent="0">
              <a:buNone/>
            </a:pPr>
            <a:r>
              <a: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https://commons.wikimedia.org/wiki/File:Experement_Small_World_(possible_option).gif</a:t>
            </a:r>
            <a:endParaRPr lang="en-US" altLang="zh-CN" sz="2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Newman M.E.J. (July, 2000). “</a:t>
            </a:r>
            <a:r>
              <a: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structure of scientific collaboration networks”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Santa Fe Institute</a:t>
            </a:r>
          </a:p>
          <a:p>
            <a:pPr marL="0" indent="0">
              <a:buNone/>
            </a:pPr>
            <a:r>
              <a:rPr lang="en-US" altLang="zh-C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Saragossi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J. (Nov, 2013). “</a:t>
            </a:r>
            <a:r>
              <a: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Facebook is for grandparents: What we need in a next-gen social network” Retrieved from: 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  <a:hlinkClick r:id="rId3"/>
              </a:rPr>
              <a:t>https://thenextweb.com/socialmedia/2013/11/24/facebook-grandparents-need-next-gen-social-network/#.tnw_YxeO9Eqr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982825"/>
      </p:ext>
    </p:extLst>
  </p:cSld>
  <p:clrMapOvr>
    <a:masterClrMapping/>
  </p:clrMapOvr>
</p:sld>
</file>

<file path=ppt/theme/theme1.xml><?xml version="1.0" encoding="utf-8"?>
<a:theme xmlns:a="http://schemas.openxmlformats.org/drawingml/2006/main" name="深度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TM04033923[[fn=深度]]</Template>
  <TotalTime>669</TotalTime>
  <Words>544</Words>
  <Application>Microsoft Office PowerPoint</Application>
  <PresentationFormat>宽屏</PresentationFormat>
  <Paragraphs>114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华文楷体</vt:lpstr>
      <vt:lpstr>Arial</vt:lpstr>
      <vt:lpstr>Corbel</vt:lpstr>
      <vt:lpstr>Times New Roman</vt:lpstr>
      <vt:lpstr>Wingdings</vt:lpstr>
      <vt:lpstr>深度</vt:lpstr>
      <vt:lpstr>The Structure of Scientific Collaboration Networks</vt:lpstr>
      <vt:lpstr>The Structure of Social Networks</vt:lpstr>
      <vt:lpstr>Small-world Experiment </vt:lpstr>
      <vt:lpstr>More experiments</vt:lpstr>
      <vt:lpstr>Scientific Collaboration Networks</vt:lpstr>
      <vt:lpstr>Result</vt:lpstr>
      <vt:lpstr>Numbers of Authors</vt:lpstr>
      <vt:lpstr>Mean Papers per Author  &amp; Authors per Paper</vt:lpstr>
      <vt:lpstr>Numbers of Collaborators</vt:lpstr>
      <vt:lpstr>Countinued</vt:lpstr>
      <vt:lpstr>Exponent &amp; Cutoff analysis</vt:lpstr>
      <vt:lpstr>The Giant Component</vt:lpstr>
      <vt:lpstr>Average Degrees of Separation</vt:lpstr>
      <vt:lpstr>Clustering</vt:lpstr>
      <vt:lpstr>Conclusions</vt:lpstr>
      <vt:lpstr>Thank you for watching</vt:lpstr>
      <vt:lpstr>Reference: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structure of scientific collaboration networks</dc:title>
  <dc:creator>chang.xu@email.wsu.edu</dc:creator>
  <cp:lastModifiedBy>chang.xu@email.wsu.edu</cp:lastModifiedBy>
  <cp:revision>26</cp:revision>
  <dcterms:created xsi:type="dcterms:W3CDTF">2017-03-02T01:36:58Z</dcterms:created>
  <dcterms:modified xsi:type="dcterms:W3CDTF">2017-03-02T20:38:26Z</dcterms:modified>
</cp:coreProperties>
</file>